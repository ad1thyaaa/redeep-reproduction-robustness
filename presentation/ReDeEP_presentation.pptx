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1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2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3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4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duction" id="{c79bd64c-27bc-bdbc-8c75-f0362f29d03c}">
          <p14:sldIdLst>
            <p14:sldId id="256"/>
            <p14:sldId id="257"/>
          </p14:sldIdLst>
        </p14:section>
        <p14:section name="Method" id="{4b7ecf74-ee43-f4b6-c00b-6c7edf53cc22}">
          <p14:sldIdLst>
            <p14:sldId id="258"/>
            <p14:sldId id="259"/>
          </p14:sldIdLst>
        </p14:section>
        <p14:section name="Results" id="{1b0669f4-7fe3-da5d-0f58-6ed7f3e6dff0}">
          <p14:sldIdLst>
            <p14:sldId id="260"/>
            <p14:sldId id="261"/>
          </p14:sldIdLst>
        </p14:section>
        <p14:section name="Extension" id="{cd230caa-5303-2574-444e-a5b611f00677}">
          <p14:sldIdLst>
            <p14:sldId id="262"/>
            <p14:sldId id="263"/>
            <p14:sldId id="264"/>
          </p14:sldIdLst>
        </p14:section>
        <p14:section name="Comparison" id="{4a901f6e-55d6-a085-9cf9-f6fa91386f80}">
          <p14:sldIdLst>
            <p14:sldId id="265"/>
          </p14:sldIdLst>
        </p14:section>
        <p14:section name="Official code" id="{3fcfa81b-3977-4cef-18da-8f1239ac8867}">
          <p14:sldIdLst>
            <p14:sldId id="266"/>
            <p14:sldId id="267"/>
            <p14:sldId id="268"/>
            <p14:sldId id="269"/>
            <p14:sldId id="270"/>
            <p14:sldId id="271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ReDeEP</c:v>
                </c:pt>
              </c:strCache>
            </c:strRef>
          </c:tx>
          <c:spPr>
            <a:solidFill>
              <a:srgbClr val="F2A541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B1B1B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TinyLlama-1.1B</c:v>
                  </c:pt>
                  <c:pt idx="1">
                    <c:v>Llama-3.2-1B</c:v>
                  </c:pt>
                  <c:pt idx="2">
                    <c:v>Llama-3.2-3B (4-bit)</c:v>
                  </c:pt>
                  <c:pt idx="3">
                    <c:v>Llama-2-7B (4-bit)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0.771</c:v>
                </c:pt>
                <c:pt idx="1">
                  <c:v>0.744</c:v>
                </c:pt>
                <c:pt idx="2">
                  <c:v>0.727</c:v>
                </c:pt>
                <c:pt idx="3">
                  <c:v>0.739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Perplexity</c:v>
                </c:pt>
              </c:strCache>
            </c:strRef>
          </c:tx>
          <c:spPr>
            <a:solidFill>
              <a:srgbClr val="8C9796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B1B1B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TinyLlama-1.1B</c:v>
                  </c:pt>
                  <c:pt idx="1">
                    <c:v>Llama-3.2-1B</c:v>
                  </c:pt>
                  <c:pt idx="2">
                    <c:v>Llama-3.2-3B (4-bit)</c:v>
                  </c:pt>
                  <c:pt idx="3">
                    <c:v>Llama-2-7B (4-bit)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0.656</c:v>
                </c:pt>
                <c:pt idx="1">
                  <c:v>0.649</c:v>
                </c:pt>
                <c:pt idx="2">
                  <c:v>0.654</c:v>
                </c:pt>
                <c:pt idx="3">
                  <c:v>0.627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LN-Entropy</c:v>
                </c:pt>
              </c:strCache>
            </c:strRef>
          </c:tx>
          <c:spPr>
            <a:solidFill>
              <a:srgbClr val="C9D1D0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B1B1B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TinyLlama-1.1B</c:v>
                  </c:pt>
                  <c:pt idx="1">
                    <c:v>Llama-3.2-1B</c:v>
                  </c:pt>
                  <c:pt idx="2">
                    <c:v>Llama-3.2-3B (4-bit)</c:v>
                  </c:pt>
                  <c:pt idx="3">
                    <c:v>Llama-2-7B (4-bit)</c:v>
                  </c:pt>
                </c:lvl>
              </c:multiLvlStrCache>
            </c:multiLvl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0.686</c:v>
                </c:pt>
                <c:pt idx="1">
                  <c:v>0.646</c:v>
                </c:pt>
                <c:pt idx="2">
                  <c:v>0.663</c:v>
                </c:pt>
                <c:pt idx="3">
                  <c:v>0.67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1100" u="none">
                  <a:solidFill>
                    <a:srgbClr val="1B1B1B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4A4A4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8"/>
          <c:min val="0.5"/>
        </c:scaling>
        <c:delete val="0"/>
        <c:axPos val="l"/>
        <c:majorGridlines>
          <c:spPr>
            <a:ln w="6350" cap="flat">
              <a:solidFill>
                <a:srgbClr val="E3E3E3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100" b="0" i="0" u="none" strike="noStrike">
                    <a:solidFill>
                      <a:srgbClr val="4A4A4A"/>
                    </a:solidFill>
                    <a:latin typeface="+mn-lt"/>
                  </a:defRPr>
                </a:pPr>
                <a:r>
                  <a:rPr sz="1100" b="0" i="0" u="none" strike="noStrike">
                    <a:solidFill>
                      <a:srgbClr val="4A4A4A"/>
                    </a:solidFill>
                    <a:latin typeface="+mn-lt"/>
                  </a:rPr>
                  <a:t>AUC (0.50 = chance)</a:t>
                </a:r>
              </a:p>
            </c:rich>
          </c:tx>
          <c:layout/>
          <c:overlay val="0"/>
        </c:title>
        <c:numFmt formatCode="0.0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4A4A4A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0.05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200"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Irrelevant passage</c:v>
                </c:pt>
              </c:strCache>
            </c:strRef>
          </c:tx>
          <c:spPr>
            <a:solidFill>
              <a:srgbClr val="8C9796"/>
            </a:solidFill>
            <a:effectLst/>
          </c:spPr>
          <c:invertIfNegative val="0"/>
          <c:dLbls>
            <c:numFmt formatCode="+0.000;-0.000;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B1B1B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TinyLlama-1.1B</c:v>
                  </c:pt>
                  <c:pt idx="1">
                    <c:v>Llama-2-7B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0.317</c:v>
                </c:pt>
                <c:pt idx="1">
                  <c:v>0.25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Numbers corrupted</c:v>
                </c:pt>
              </c:strCache>
            </c:strRef>
          </c:tx>
          <c:spPr>
            <a:solidFill>
              <a:srgbClr val="F2A541"/>
            </a:solidFill>
            <a:effectLst/>
          </c:spPr>
          <c:invertIfNegative val="0"/>
          <c:dLbls>
            <c:numFmt formatCode="+0.000;-0.000;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B1B1B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TinyLlama-1.1B</c:v>
                  </c:pt>
                  <c:pt idx="1">
                    <c:v>Llama-2-7B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0.005</c:v>
                </c:pt>
                <c:pt idx="1">
                  <c:v>-0.01</c:v>
                </c:pt>
              </c:numCache>
            </c:numRef>
          </c:val>
        </c:ser>
        <c:dLbls>
          <c:numFmt formatCode="+0.000;-0.000;0" sourceLinked="0"/>
          <c:txPr>
            <a:bodyPr/>
            <a:lstStyle/>
            <a:p>
              <a:pPr>
                <a:defRPr b="0" i="0" strike="noStrike" sz="1100" u="none">
                  <a:solidFill>
                    <a:srgbClr val="1B1B1B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4A4A4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35"/>
          <c:min val="-0.05"/>
        </c:scaling>
        <c:delete val="0"/>
        <c:axPos val="b"/>
        <c:majorGridlines>
          <c:spPr>
            <a:ln w="6350" cap="flat">
              <a:solidFill>
                <a:srgbClr val="E3E3E3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100" b="0" i="0" u="none" strike="noStrike">
                    <a:solidFill>
                      <a:srgbClr val="4A4A4A"/>
                    </a:solidFill>
                    <a:latin typeface="+mn-lt"/>
                  </a:defRPr>
                </a:pPr>
                <a:r>
                  <a:rPr sz="1100" b="0" i="0" u="none" strike="noStrike">
                    <a:solidFill>
                      <a:srgbClr val="4A4A4A"/>
                    </a:solidFill>
                    <a:latin typeface="+mn-lt"/>
                  </a:rPr>
                  <a:t>Change in hallucination score vs. accurate passage</a:t>
                </a:r>
              </a:p>
            </c:rich>
          </c:tx>
          <c:layout/>
          <c:overlay val="0"/>
        </c:title>
        <c:numFmt formatCode="+0.00;-0.00;0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4A4A4A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0.05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200"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AUC</c:v>
                </c:pt>
              </c:strCache>
            </c:strRef>
          </c:tx>
          <c:spPr>
            <a:solidFill>
              <a:srgbClr val="F2A541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B1B1B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F2A541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8C9796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8C9796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8C9796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8C9796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ReDeEP on Llama-2-7B</c:v>
                  </c:pt>
                  <c:pt idx="1">
                    <c:v>GPT: gpt-oss-120b</c:v>
                  </c:pt>
                  <c:pt idx="2">
                    <c:v>Gemini 3.5 Flash-Lite</c:v>
                  </c:pt>
                  <c:pt idx="3">
                    <c:v>Llama-3.2-3B judge</c:v>
                  </c:pt>
                  <c:pt idx="4">
                    <c:v>Perplexity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0.721</c:v>
                </c:pt>
                <c:pt idx="1">
                  <c:v>0.79</c:v>
                </c:pt>
                <c:pt idx="2">
                  <c:v>0.827</c:v>
                </c:pt>
                <c:pt idx="3">
                  <c:v>0.499</c:v>
                </c:pt>
                <c:pt idx="4">
                  <c:v>0.614</c:v>
                </c:pt>
              </c:numCache>
            </c:numRef>
          </c:val>
        </c:ser>
        <c:dLbls>
          <c:numFmt formatCode="0.000" sourceLinked="0"/>
          <c:txPr>
            <a:bodyPr/>
            <a:lstStyle/>
            <a:p>
              <a:pPr>
                <a:defRPr b="0" i="0" strike="noStrike" sz="1100" u="none">
                  <a:solidFill>
                    <a:srgbClr val="1B1B1B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4A4A4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9"/>
          <c:min val="0.4"/>
        </c:scaling>
        <c:delete val="0"/>
        <c:axPos val="b"/>
        <c:majorGridlines>
          <c:spPr>
            <a:ln w="6350" cap="flat">
              <a:solidFill>
                <a:srgbClr val="E3E3E3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100" b="0" i="0" u="none" strike="noStrike">
                    <a:solidFill>
                      <a:srgbClr val="4A4A4A"/>
                    </a:solidFill>
                    <a:latin typeface="+mn-lt"/>
                  </a:defRPr>
                </a:pPr>
                <a:r>
                  <a:rPr sz="1100" b="0" i="0" u="none" strike="noStrike">
                    <a:solidFill>
                      <a:srgbClr val="4A4A4A"/>
                    </a:solidFill>
                    <a:latin typeface="+mn-lt"/>
                  </a:rPr>
                  <a:t>AUC on the same 124 held-out test responses</a:t>
                </a:r>
              </a:p>
            </c:rich>
          </c:tx>
          <c:layout/>
          <c:overlay val="0"/>
        </c:title>
        <c:numFmt formatCode="0.0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4A4A4A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0.1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Official protocol (selected on test)</c:v>
                </c:pt>
              </c:strCache>
            </c:strRef>
          </c:tx>
          <c:spPr>
            <a:solidFill>
              <a:srgbClr val="8C9796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B1B1B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Authors' logs, RAGTruth 7B</c:v>
                  </c:pt>
                  <c:pt idx="1">
                    <c:v>Ours, RAGTruth 7B</c:v>
                  </c:pt>
                  <c:pt idx="2">
                    <c:v>Ours, Dolly 7B</c:v>
                  </c:pt>
                  <c:pt idx="3">
                    <c:v>Ours, Dolly 13B</c:v>
                  </c:pt>
                  <c:pt idx="4">
                    <c:v>Ours, Dolly 8B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0.747</c:v>
                </c:pt>
                <c:pt idx="1">
                  <c:v>0.74</c:v>
                </c:pt>
                <c:pt idx="2">
                  <c:v>0.795</c:v>
                </c:pt>
                <c:pt idx="3">
                  <c:v>0.768</c:v>
                </c:pt>
                <c:pt idx="4">
                  <c:v>0.717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Leakage-free nested CV</c:v>
                </c:pt>
              </c:strCache>
            </c:strRef>
          </c:tx>
          <c:spPr>
            <a:solidFill>
              <a:srgbClr val="F2A541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B1B1B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Authors' logs, RAGTruth 7B</c:v>
                  </c:pt>
                  <c:pt idx="1">
                    <c:v>Ours, RAGTruth 7B</c:v>
                  </c:pt>
                  <c:pt idx="2">
                    <c:v>Ours, Dolly 7B</c:v>
                  </c:pt>
                  <c:pt idx="3">
                    <c:v>Ours, Dolly 13B</c:v>
                  </c:pt>
                  <c:pt idx="4">
                    <c:v>Ours, Dolly 8B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0.731</c:v>
                </c:pt>
                <c:pt idx="1">
                  <c:v>0.731</c:v>
                </c:pt>
                <c:pt idx="2">
                  <c:v>0.713</c:v>
                </c:pt>
                <c:pt idx="3">
                  <c:v>0.683</c:v>
                </c:pt>
                <c:pt idx="4">
                  <c:v>0.634</c:v>
                </c:pt>
              </c:numCache>
            </c:numRef>
          </c:val>
        </c:ser>
        <c:dLbls>
          <c:numFmt formatCode="0.000" sourceLinked="0"/>
          <c:txPr>
            <a:bodyPr/>
            <a:lstStyle/>
            <a:p>
              <a:pPr>
                <a:defRPr b="0" i="0" strike="noStrike" sz="1100" u="none">
                  <a:solidFill>
                    <a:srgbClr val="1B1B1B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4A4A4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85"/>
          <c:min val="0.6"/>
        </c:scaling>
        <c:delete val="0"/>
        <c:axPos val="l"/>
        <c:majorGridlines>
          <c:spPr>
            <a:ln w="6350" cap="flat">
              <a:solidFill>
                <a:srgbClr val="E3E3E3"/>
              </a:solidFill>
              <a:prstDash val="solid"/>
              <a:round/>
            </a:ln>
          </c:spPr>
        </c:majorGridlines>
        <c:numFmt formatCode="0.0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4A4A4A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0.05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200"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project reproduces ReDeEP, a method that detects hallucinations in retrieval-augmented generation by reading a model's internals, and extends it with a robustness test and a comparison against GPT and Gemini judges.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Example is illustrative. The core problem: a RAG answer can be confident and fluent yet unsupported by its context, so confidence-based detectors are weak.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Top 8 copying heads are chosen from the OV circuit; top 5 knowledge FFN layers by correlation with the label on the training fold. Baselines: perplexity and length-normalised entropy from the same forward pass.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Engineering: forward hooks keep only top-k attention positions per layer instead of full attention maps, which lets 7B fit in 6 GB. Verified identical to the original implementation to within 6e-8.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PCC 0.427 vs paper 0.3979. Achieved on a laptop GPU with 4-bit weights.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Fold standard deviations: ReDeEP 0.03-0.05, baselines 0.06-0.08. Differences between backbones under ~0.05 are within noise.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Tested on TinyLlama-1.1B and Llama-2-7B. Paired Wilcoxon signed-rank test on the per-response score change.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Llama-2-7B: score -0.010 (p=5.7e-6), ECS rises 0.282 to 0.310. TinyLlama: +0.005, p=0.40.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paper scopes ReDeEP to RAG hallucination with accurate context; this test shows what happens just outside that scope.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GPT-family judge: OpenAI's open-weights gpt-oss-120b via Groq's free tier. Gemini: 3.5 Flash-Lite via the free tier. All judges and ReDeEP are scored on the same held-out split.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Chunk-level ECS uses BGE embeddings of the most-attended prompt chunk, as in the official code; our features agree with the authors' logged values head by head in 148/160 spot checks.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 first reproduced the authors' exact stored result (AUC 0.7473) from their own logs, then moved feature and hyperparameter selection into training folds.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AARF: amplify copying heads x1.2 and damp knowledge FFNs x0.8 when the token hallucination score exceeds 0.6. Authors judged with GPT-4o in a fixed order (AARF first).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Also: copying heads scored on 500 sampled vocabulary tokens; 415 responses give fold std of 0.03-0.05 AUC.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Future work: entity and negation corruptions; combine ECS with a numeric consistency check; run at full precision on a larger GPU; score responses generated by each backbone.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Questions. All numbers in the report and slides are generated from the result files in the repository.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dark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325880"/>
            <a:ext cx="8046720" cy="1371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8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880360"/>
            <a:ext cx="804672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800" dirty="0">
                <a:solidFill>
                  <a:schemeClr val="bg2"/>
                </a:solidFill>
              </a:defRPr>
            </a:lvl1pPr>
          </a:lstStyle>
          <a:p>
            <a:pPr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4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2400" dirty="0"/>
          </a:p>
        </p:txBody>
      </p:sp>
      <p:sp>
        <p:nvSpPr>
          <p:cNvPr id="3" name="Text 0"/>
          <p:cNvSpPr/>
          <p:nvPr/>
        </p:nvSpPr>
        <p:spPr>
          <a:xfrm>
            <a:off x="457200" y="47548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3"/>
                </a:solidFill>
              </a:rPr>
              <a:t>ReDeEP reproduction and robustness study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325880"/>
            <a:ext cx="80467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800" b="1" dirty="0">
                <a:solidFill>
                  <a:schemeClr val="bg1"/>
                </a:solidFill>
              </a:rPr>
              <a:t>ReDeEP: Detecting Hallucination in Retrieval-Augmented Generation via Mechanistic Interpretability</a:t>
            </a:r>
            <a:endParaRPr lang="en-US" sz="3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880360"/>
            <a:ext cx="8046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A reproduction and robustness study  |  IOE-414 Deep Learning, IIIT Kottayam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Gourilakshmi S (2023BCS0021) &amp; Adithya K (2023BCS0051)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github.com/ad1thyaaa/ReDeEP-Reproduction-Robustness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RAG models still make things up, even with the answer in front of them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3931920" cy="3291840"/>
          </a:xfrm>
          <a:prstGeom prst="roundRect">
            <a:avLst>
              <a:gd name="adj" fmla="val 2222"/>
            </a:avLst>
          </a:prstGeom>
          <a:solidFill>
            <a:schemeClr val="bg2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85800" y="137160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Retrieved passage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1737360"/>
            <a:ext cx="3474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“The bridge opened in 1932 and carries 160,000 vehicles a day.”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265176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Model answer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3017520"/>
            <a:ext cx="3474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“The bridge opened in 1932 and carries about 200,000 vehicles a day.”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393192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4"/>
                </a:solidFill>
              </a:rPr>
              <a:t>Fluent and confident, but unsupported.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4754880" y="1280160"/>
            <a:ext cx="393192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Output-only signals miss it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Perplexity and entropy measure confidence, not faithfulness to the passage.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 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ReDeEP looks inside instead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It asks whether the model used the passage (attention heads) or its own memory (FFN layers).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ReDeEP scores two internal signals and combines them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1600200"/>
            <a:ext cx="1920240" cy="146304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94360" y="1709928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Prompt + response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594360" y="2057400"/>
            <a:ext cx="1645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One forward pass through a LLaMA model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2880360" y="1143000"/>
            <a:ext cx="2651760" cy="1143000"/>
          </a:xfrm>
          <a:prstGeom prst="roundRect">
            <a:avLst>
              <a:gd name="adj" fmla="val 6400"/>
            </a:avLst>
          </a:prstGeom>
          <a:solidFill>
            <a:schemeClr val="bg2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3017520" y="1252728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Copying heads → ECS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3017520" y="1600200"/>
            <a:ext cx="2377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Does the response build on what the heads read in the passage?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2880360" y="2606040"/>
            <a:ext cx="2651760" cy="1143000"/>
          </a:xfrm>
          <a:prstGeom prst="roundRect">
            <a:avLst>
              <a:gd name="adj" fmla="val 6400"/>
            </a:avLst>
          </a:prstGeom>
          <a:solidFill>
            <a:schemeClr val="bg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3017520" y="2715768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Knowledge FFNs → PKS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3017520" y="3063240"/>
            <a:ext cx="2377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How much do FFN layers inject the model's own memory?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035040" y="1600200"/>
            <a:ext cx="2651760" cy="1463040"/>
          </a:xfrm>
          <a:prstGeom prst="roundRect">
            <a:avLst>
              <a:gd name="adj" fmla="val 5000"/>
            </a:avLst>
          </a:prstGeom>
          <a:solidFill>
            <a:schemeClr val="accent1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172200" y="1709928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Hallucination score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6172200" y="2057400"/>
            <a:ext cx="2377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Logistic regression: high PKS and low ECS = likely hallucination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 flipV="1">
            <a:off x="2377440" y="1737360"/>
            <a:ext cx="502920" cy="411480"/>
          </a:xfrm>
          <a:prstGeom prst="line">
            <a:avLst/>
          </a:prstGeom>
          <a:noFill/>
          <a:ln w="19050">
            <a:solidFill>
              <a:srgbClr val="8C9796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2377440" y="2514600"/>
            <a:ext cx="502920" cy="640080"/>
          </a:xfrm>
          <a:prstGeom prst="line">
            <a:avLst/>
          </a:prstGeom>
          <a:noFill/>
          <a:ln w="19050">
            <a:solidFill>
              <a:srgbClr val="8C9796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5532120" y="1737360"/>
            <a:ext cx="502920" cy="411480"/>
          </a:xfrm>
          <a:prstGeom prst="line">
            <a:avLst/>
          </a:prstGeom>
          <a:noFill/>
          <a:ln w="19050">
            <a:solidFill>
              <a:srgbClr val="8C9796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 flipV="1">
            <a:off x="5532120" y="2514600"/>
            <a:ext cx="502920" cy="640080"/>
          </a:xfrm>
          <a:prstGeom prst="line">
            <a:avLst/>
          </a:prstGeom>
          <a:noFill/>
          <a:ln w="19050">
            <a:solidFill>
              <a:srgbClr val="8C9796"/>
            </a:solidFill>
            <a:prstDash val="solid"/>
            <a:tailEnd type="triangle"/>
          </a:ln>
        </p:spPr>
      </p:sp>
      <p:sp>
        <p:nvSpPr>
          <p:cNvPr id="19" name="Text 17"/>
          <p:cNvSpPr txBox="1"/>
          <p:nvPr/>
        </p:nvSpPr>
        <p:spPr>
          <a:xfrm>
            <a:off x="457200" y="39776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ECS: cosine similarity between a response token and the passage tokens a head attends to most.  PKS: Jensen-Shannon divergence of LogitLens predictions before vs. after each FFN.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Four LLaMA models, one 6 GB laptop GPU, the paper's test set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1874520" cy="173736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94360" y="1325880"/>
            <a:ext cx="1600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415</a:t>
            </a:r>
            <a:endParaRPr lang="en-US" sz="3600" dirty="0"/>
          </a:p>
        </p:txBody>
      </p:sp>
      <p:sp>
        <p:nvSpPr>
          <p:cNvPr id="5" name="Text 3"/>
          <p:cNvSpPr txBox="1"/>
          <p:nvPr/>
        </p:nvSpPr>
        <p:spPr>
          <a:xfrm>
            <a:off x="594360" y="2103120"/>
            <a:ext cx="1600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RAGTruth test responses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(212 hallucinated)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2560320" y="1188720"/>
            <a:ext cx="1874520" cy="173736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2697480" y="1325880"/>
            <a:ext cx="1600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3600" dirty="0"/>
          </a:p>
        </p:txBody>
      </p:sp>
      <p:sp>
        <p:nvSpPr>
          <p:cNvPr id="8" name="Text 6"/>
          <p:cNvSpPr txBox="1"/>
          <p:nvPr/>
        </p:nvSpPr>
        <p:spPr>
          <a:xfrm>
            <a:off x="2697480" y="2103120"/>
            <a:ext cx="1600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LLaMA backbones,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1.1B to 7B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663440" y="1188720"/>
            <a:ext cx="1874520" cy="173736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800600" y="1325880"/>
            <a:ext cx="1600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 GB</a:t>
            </a:r>
            <a:endParaRPr lang="en-US" sz="3600" dirty="0"/>
          </a:p>
        </p:txBody>
      </p:sp>
      <p:sp>
        <p:nvSpPr>
          <p:cNvPr id="11" name="Text 9"/>
          <p:cNvSpPr txBox="1"/>
          <p:nvPr/>
        </p:nvSpPr>
        <p:spPr>
          <a:xfrm>
            <a:off x="4800600" y="2103120"/>
            <a:ext cx="1600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RTX 4050 VRAM;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3B and 7B in 4-bit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766560" y="1188720"/>
            <a:ext cx="1874520" cy="173736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903720" y="1325880"/>
            <a:ext cx="1600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5-fold</a:t>
            </a:r>
            <a:endParaRPr lang="en-US" sz="3600" dirty="0"/>
          </a:p>
        </p:txBody>
      </p:sp>
      <p:sp>
        <p:nvSpPr>
          <p:cNvPr id="14" name="Text 12"/>
          <p:cNvSpPr txBox="1"/>
          <p:nvPr/>
        </p:nvSpPr>
        <p:spPr>
          <a:xfrm>
            <a:off x="6903720" y="2103120"/>
            <a:ext cx="1600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stratified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cross-validation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320040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Backbones: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TinyLlama-1.1B-Chat, Llama-3.2-1B-Instruct, Llama-3.2-3B-Instruct, Llama-2-7B-chat (the paper's model).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Responses: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all generated by llama-2-7b-chat, as in the paper. Copying heads and FFN layers are re-selected inside each training fold.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The reproduction matches the paper on its own model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3840480" cy="3108960"/>
          </a:xfrm>
          <a:prstGeom prst="roundRect">
            <a:avLst>
              <a:gd name="adj" fmla="val 2353"/>
            </a:avLst>
          </a:prstGeom>
          <a:solidFill>
            <a:schemeClr val="tx2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31520" y="1463040"/>
            <a:ext cx="3291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0.739</a:t>
            </a:r>
            <a:endParaRPr lang="en-US" sz="66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2743200"/>
            <a:ext cx="3291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Our AUC, Llama-2-7B-chat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(4-bit, 5-fold CV)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663440" y="1188720"/>
            <a:ext cx="4023360" cy="3108960"/>
          </a:xfrm>
          <a:prstGeom prst="roundRect">
            <a:avLst>
              <a:gd name="adj" fmla="val 2353"/>
            </a:avLst>
          </a:prstGeom>
          <a:solidFill>
            <a:schemeClr val="bg2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4937760" y="1463040"/>
            <a:ext cx="3474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600" b="1" dirty="0">
                <a:solidFill>
                  <a:schemeClr val="accent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0.7325</a:t>
            </a:r>
            <a:endParaRPr lang="en-US" sz="6600" dirty="0"/>
          </a:p>
        </p:txBody>
      </p:sp>
      <p:sp>
        <p:nvSpPr>
          <p:cNvPr id="8" name="Text 6"/>
          <p:cNvSpPr txBox="1"/>
          <p:nvPr/>
        </p:nvSpPr>
        <p:spPr>
          <a:xfrm>
            <a:off x="4937760" y="2743200"/>
            <a:ext cx="3474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Paper's AUC, Llama-2-7B-chat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(Sun et al., ICLR 2025)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43891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3"/>
                </a:solidFill>
              </a:rPr>
              <a:t>Difference 0.006, well inside the fold-to-fold spread of ±0.034.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ReDeEP beats both baselines on every backbone</a:t>
            </a:r>
            <a:endParaRPr lang="en-US" sz="24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457200" y="1051560"/>
          <a:ext cx="5852160" cy="35661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Shape 1"/>
          <p:cNvSpPr/>
          <p:nvPr/>
        </p:nvSpPr>
        <p:spPr>
          <a:xfrm>
            <a:off x="6583680" y="1188720"/>
            <a:ext cx="2103120" cy="3291840"/>
          </a:xfrm>
          <a:prstGeom prst="roundRect">
            <a:avLst>
              <a:gd name="adj" fmla="val 3478"/>
            </a:avLst>
          </a:prstGeom>
          <a:solidFill>
            <a:schemeClr val="bg2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6766560" y="1371600"/>
            <a:ext cx="178308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+0.06 to +0.11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AUC over the baselines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 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Size barely matters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1.1B TinyLlama scores highest (0.771); 3B and 7B are within noise.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Extension: keep the answer, corrupt the passage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2560320" cy="2377440"/>
          </a:xfrm>
          <a:prstGeom prst="roundRect">
            <a:avLst>
              <a:gd name="adj" fmla="val 3077"/>
            </a:avLst>
          </a:prstGeom>
          <a:solidFill>
            <a:schemeClr val="bg2"/>
          </a:solidFill>
          <a:ln/>
        </p:spPr>
      </p:sp>
      <p:sp>
        <p:nvSpPr>
          <p:cNvPr id="4" name="Shape 2"/>
          <p:cNvSpPr/>
          <p:nvPr/>
        </p:nvSpPr>
        <p:spPr>
          <a:xfrm>
            <a:off x="640080" y="1371600"/>
            <a:ext cx="457200" cy="45720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40080" y="13716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96596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Accurate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2377440"/>
            <a:ext cx="2194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The real RAGTruth passage. The control.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291840" y="1188720"/>
            <a:ext cx="2560320" cy="2377440"/>
          </a:xfrm>
          <a:prstGeom prst="roundRect">
            <a:avLst>
              <a:gd name="adj" fmla="val 3077"/>
            </a:avLst>
          </a:prstGeom>
          <a:solidFill>
            <a:schemeClr val="bg2"/>
          </a:solidFill>
          <a:ln/>
        </p:spPr>
      </p:sp>
      <p:sp>
        <p:nvSpPr>
          <p:cNvPr id="9" name="Shape 7"/>
          <p:cNvSpPr/>
          <p:nvPr/>
        </p:nvSpPr>
        <p:spPr>
          <a:xfrm>
            <a:off x="3474720" y="1371600"/>
            <a:ext cx="457200" cy="45720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3474720" y="13716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3474720" y="196596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Irrelevant passage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3474720" y="2377440"/>
            <a:ext cx="2194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A passage from a different source on the same task type. Nothing in the answer is supported.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126480" y="1188720"/>
            <a:ext cx="2560320" cy="2377440"/>
          </a:xfrm>
          <a:prstGeom prst="roundRect">
            <a:avLst>
              <a:gd name="adj" fmla="val 3077"/>
            </a:avLst>
          </a:prstGeom>
          <a:solidFill>
            <a:schemeClr val="bg2"/>
          </a:solidFill>
          <a:ln/>
        </p:spPr>
      </p:sp>
      <p:sp>
        <p:nvSpPr>
          <p:cNvPr id="14" name="Shape 12"/>
          <p:cNvSpPr/>
          <p:nvPr/>
        </p:nvSpPr>
        <p:spPr>
          <a:xfrm>
            <a:off x="6309360" y="137160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309360" y="13716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6309360" y="196596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Numbers corrupted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6309360" y="2377440"/>
            <a:ext cx="2194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Every number in the real passage scaled by 1.3–3×. Numbers the answer copied are now contradicted.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457200" y="384048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 faithful detector should flag both corrupted conditions. 150 held-out responses per backbone; detector refit on the other 265.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It flags off-topic passages but misses contradicted numbers</a:t>
            </a:r>
            <a:endParaRPr lang="en-US" sz="24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457200" y="1051560"/>
          <a:ext cx="5120640" cy="35661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Shape 1"/>
          <p:cNvSpPr/>
          <p:nvPr/>
        </p:nvSpPr>
        <p:spPr>
          <a:xfrm>
            <a:off x="5852160" y="1188720"/>
            <a:ext cx="2834640" cy="3291840"/>
          </a:xfrm>
          <a:prstGeom prst="roundRect">
            <a:avLst>
              <a:gd name="adj" fmla="val 2581"/>
            </a:avLst>
          </a:prstGeom>
          <a:solidFill>
            <a:schemeClr val="bg2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6035040" y="1371600"/>
            <a:ext cx="251460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Irrelevant: </a:t>
            </a:r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score jumps (p &lt; 0.001). Correct.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 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Numbers corrupted: </a:t>
            </a:r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no rise. On the 122 answers that state a contradicted number, the score rose in only 52% (TinyLlama) and 31% (Llama-2-7B) of cases.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ReDeEP checks whether an answer is about the passage, not whether it agrees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3931920" cy="1828800"/>
          </a:xfrm>
          <a:prstGeom prst="roundRect">
            <a:avLst>
              <a:gd name="adj" fmla="val 4000"/>
            </a:avLst>
          </a:prstGeom>
          <a:solidFill>
            <a:schemeClr val="bg2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85800" y="132588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What ECS measures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1737360"/>
            <a:ext cx="34747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Cosine similarity between hidden states: is the answer built from the same content the copying heads read?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754880" y="1188720"/>
            <a:ext cx="3931920" cy="1828800"/>
          </a:xfrm>
          <a:prstGeom prst="roundRect">
            <a:avLst>
              <a:gd name="adj" fmla="val 4000"/>
            </a:avLst>
          </a:prstGeom>
          <a:solidFill>
            <a:schemeClr val="bg2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4983480" y="132588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What it cannot see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4983480" y="1737360"/>
            <a:ext cx="34747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 changed number likely barely moves the hidden state, so a contradicted fact still looks “grounded”. In Llama-2-7B, ECS even rose.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57200" y="3337560"/>
            <a:ext cx="8229600" cy="914400"/>
          </a:xfrm>
          <a:prstGeom prst="roundRect">
            <a:avLst>
              <a:gd name="adj" fmla="val 8000"/>
            </a:avLst>
          </a:prstGeom>
          <a:solidFill>
            <a:schemeClr val="tx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85800" y="3447288"/>
            <a:ext cx="7772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Implication: pair ReDeEP with a fact-level check (numbers, entities) before trusting it on knowledge conflicts.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Large API judges beat ReDeEP on accuracy; ReDeEP wins on cost</a:t>
            </a:r>
            <a:endParaRPr lang="en-US" sz="24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457200" y="1051560"/>
          <a:ext cx="5577840" cy="35661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Shape 1"/>
          <p:cNvSpPr/>
          <p:nvPr/>
        </p:nvSpPr>
        <p:spPr>
          <a:xfrm>
            <a:off x="6309360" y="1188720"/>
            <a:ext cx="2377440" cy="3291840"/>
          </a:xfrm>
          <a:prstGeom prst="roundRect">
            <a:avLst>
              <a:gd name="adj" fmla="val 3077"/>
            </a:avLst>
          </a:prstGeom>
          <a:solidFill>
            <a:schemeClr val="bg2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6492240" y="1371600"/>
            <a:ext cx="205740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Black-box judges </a:t>
            </a:r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read the passage and answer, and state a hallucination probability (0–100).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 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ReDeEP </a:t>
            </a:r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needs no prompt and no API, only one forward pass of an open model.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With the authors' code and data, chunk level matches and 13B is strongest</a:t>
            </a:r>
            <a:endParaRPr lang="en-US" sz="24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566928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051560"/>
                <a:gridCol w="1051560"/>
                <a:gridCol w="1051560"/>
                <a:gridCol w="1051560"/>
              </a:tblGrid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Backbone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7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D3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RAGTruth token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7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D3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RAGTruth chunk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7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D3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Dolly token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7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D3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Dolly chunk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7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D3E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Llama-2-7B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7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0.739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7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0.731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7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0.690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7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0.713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7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Llama-2-13B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7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0.801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7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7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0.646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7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0.683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7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Llama-3-8B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7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0.730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7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0.717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7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7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7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457200" y="3063240"/>
            <a:ext cx="5669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AUC, leakage-free 5-fold CV. 13B and 8B ran in 4-bit on a free Kaggle T4 GPU, each on its own responses.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6400800" y="1188720"/>
            <a:ext cx="2286000" cy="3291840"/>
          </a:xfrm>
          <a:prstGeom prst="roundRect">
            <a:avLst>
              <a:gd name="adj" fmla="val 3200"/>
            </a:avLst>
          </a:prstGeom>
          <a:solidFill>
            <a:schemeClr val="bg2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6583680" y="1371600"/>
            <a:ext cx="196596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Chunk level reproduced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Ours 0.731 vs. authors' own scores 0.731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 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Mixed on Llama-3-8B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Small margin on RAGTruth; LN-Entropy wins on Dolly (AC).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The official evaluation picks features on the test set, inflating small-data results</a:t>
            </a:r>
            <a:endParaRPr lang="en-US" sz="24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457200" y="1051560"/>
          <a:ext cx="5669280" cy="35661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Shape 1"/>
          <p:cNvSpPr/>
          <p:nvPr/>
        </p:nvSpPr>
        <p:spPr>
          <a:xfrm>
            <a:off x="6400800" y="1188720"/>
            <a:ext cx="2286000" cy="3291840"/>
          </a:xfrm>
          <a:prstGeom prst="roundRect">
            <a:avLst>
              <a:gd name="adj" fmla="val 3200"/>
            </a:avLst>
          </a:prstGeom>
          <a:solidFill>
            <a:schemeClr val="bg2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6583680" y="1371600"/>
            <a:ext cx="196596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+0.016 on RAGTruth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small: the paper's claims hold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 </a:t>
            </a:r>
            <a:endParaRPr lang="en-US" sz="1300" dirty="0"/>
          </a:p>
          <a:p>
            <a:pPr indent="0" marL="0">
              <a:buNone/>
            </a:pPr>
            <a:r>
              <a:rPr lang="en-US" sz="1800" b="1" dirty="0">
                <a:solidFill>
                  <a:schemeClr val="accent4"/>
                </a:solidFill>
              </a:rPr>
              <a:t>+0.08 on Dolly (AC)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same on all 3 models; 99 responses, so picking the best of 32 heads on test data fits noise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AARF: the gate is always on or almost never on, and its win is mostly position bias</a:t>
            </a:r>
            <a:endParaRPr lang="en-US" sz="24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566928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1051560"/>
                <a:gridCol w="914400"/>
                <a:gridCol w="1188720"/>
                <a:gridCol w="114300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Backbone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7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D3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Answers changed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7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D3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Gate fires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7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D3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Judge, official order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7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D3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Judge, both orders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7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D3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Llama-2-7B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7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63/99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7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7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 : 24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7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 : 15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7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Llama-2-13B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7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54/98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7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7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 : 20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7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 : 12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7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Llama-3-8B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7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2/99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7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7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: 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7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 : 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7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457200" y="3200400"/>
            <a:ext cx="5669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Judge columns: AARF wins : baseline wins (Gemini 3.5 Flash-Lite). Both orders = verdict must survive swapping the two answers.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6400800" y="1188720"/>
            <a:ext cx="2286000" cy="3291840"/>
          </a:xfrm>
          <a:prstGeom prst="roundRect">
            <a:avLst>
              <a:gd name="adj" fmla="val 3200"/>
            </a:avLst>
          </a:prstGeom>
          <a:solidFill>
            <a:schemeClr val="bg2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6583680" y="1371600"/>
            <a:ext cx="196596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Gate miscalibrated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Released ranges make the 0.6 threshold always or never crossed.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 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Position bias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Swapping the two answers flipped the judge's verdict in 39% (7B) and 47% (13B) of pairs.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Limitations to keep in mind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4023360" cy="146304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32588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4-bit weights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737360"/>
            <a:ext cx="3657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3B, 7B, 8B and 13B ran quantised (laptop or free Kaggle GPU); 7B still matched the paper.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663440" y="1188720"/>
            <a:ext cx="4023360" cy="146304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4846320" y="132588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Small Dolly (AC)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4846320" y="1737360"/>
            <a:ext cx="3657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99 responses per model: fold-to-fold spread near 0.08-0.10 AUC.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57200" y="2834640"/>
            <a:ext cx="4023360" cy="146304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40080" y="29718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Numbers only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3383280"/>
            <a:ext cx="3657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The contradiction test corrupts numbers; entity swaps and negations are untested.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663440" y="2834640"/>
            <a:ext cx="4023360" cy="146304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846320" y="29718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Free-tier judges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4846320" y="3383280"/>
            <a:ext cx="3657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GPT judge is open-weights gpt-oss-120b; Gemini is Flash-Lite instead of GPT-4o.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325880"/>
            <a:ext cx="80467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800" b="1" dirty="0">
                <a:solidFill>
                  <a:schemeClr val="bg1"/>
                </a:solidFill>
              </a:rPr>
              <a:t>ReDeEP works, and now we know where it stops working</a:t>
            </a:r>
            <a:endParaRPr lang="en-US" sz="3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880360"/>
            <a:ext cx="8046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Reproduced: AUC 0.739 vs. 0.7325; chunk level matches the authors exactly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Strongest on Llama-2-13B; mixed on Llama-3-8B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Official evaluation leaks test labels: small on RAGTruth, large on Dolly (AC)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Blind to contradicted numbers; AARF's gain does not survive a fair judge</a:t>
            </a:r>
            <a:endParaRPr lang="en-US" sz="1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325880"/>
            <a:ext cx="80467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800" b="1" dirty="0">
                <a:solidFill>
                  <a:schemeClr val="bg1"/>
                </a:solidFill>
              </a:rPr>
              <a:t>Thank you</a:t>
            </a:r>
            <a:endParaRPr lang="en-US" sz="3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880360"/>
            <a:ext cx="8046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Code, results and report: github.com/ad1thyaaa/ReDeEP-Reproduction-Robustness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Base paper: Sun et al., ReDeEP, ICLR 2025 (doi.org/10.48550/arXiv.2410.11414)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Official code and data: github.com/Jeryi-Sun/ReDEeP-ICLR  |  RAGTruth: github.com/ParticleMedia/RAGTruth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ReDeEP Teal">
  <a:themeElements>
    <a:clrScheme name="ReDeEP Teal">
      <a:dk1>
        <a:srgbClr val="1B1B1B"/>
      </a:dk1>
      <a:lt1>
        <a:srgbClr val="FFFFFF"/>
      </a:lt1>
      <a:dk2>
        <a:srgbClr val="0F3D3E"/>
      </a:dk2>
      <a:lt2>
        <a:srgbClr val="E6EFEE"/>
      </a:lt2>
      <a:accent1>
        <a:srgbClr val="F2A541"/>
      </a:accent1>
      <a:accent2>
        <a:srgbClr val="2E7D7A"/>
      </a:accent2>
      <a:accent3>
        <a:srgbClr val="8C9796"/>
      </a:accent3>
      <a:accent4>
        <a:srgbClr val="C8553D"/>
      </a:accent4>
      <a:accent5>
        <a:srgbClr val="6BAF92"/>
      </a:accent5>
      <a:accent6>
        <a:srgbClr val="C9D1D0"/>
      </a:accent6>
      <a:hlink>
        <a:srgbClr val="2E7D7A"/>
      </a:hlink>
      <a:folHlink>
        <a:srgbClr val="6B6B6B"/>
      </a:folHlink>
    </a:clrScheme>
    <a:fontScheme name="ReDeEP Teal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ReDeEP: reproduction and robustness study</dc:title>
  <dc:subject>PptxGenJS Presentation</dc:subject>
  <dc:creator>Gourilakshmi S, Adithya K</dc:creator>
  <cp:lastModifiedBy>Gourilakshmi S, Adithya K</cp:lastModifiedBy>
  <cp:revision>1</cp:revision>
  <dcterms:created xsi:type="dcterms:W3CDTF">2026-10-24T06:57:37Z</dcterms:created>
  <dcterms:modified xsi:type="dcterms:W3CDTF">2026-10-24T06:57:37Z</dcterms:modified>
</cp:coreProperties>
</file>